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283" r:id="rId3"/>
    <p:sldId id="282" r:id="rId4"/>
    <p:sldId id="285" r:id="rId5"/>
    <p:sldId id="286" r:id="rId6"/>
    <p:sldId id="287" r:id="rId7"/>
    <p:sldId id="288" r:id="rId8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88"/>
    <p:restoredTop sz="94658"/>
  </p:normalViewPr>
  <p:slideViewPr>
    <p:cSldViewPr snapToGrid="0">
      <p:cViewPr varScale="1">
        <p:scale>
          <a:sx n="120" d="100"/>
          <a:sy n="120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1249748F-0FE7-C64C-B0B9-9306A54D4824}" type="datetimeFigureOut">
              <a:rPr lang="en-CL" smtClean="0"/>
              <a:pPr/>
              <a:t>11-03-26</a:t>
            </a:fld>
            <a:endParaRPr lang="en-C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L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8C36E6B2-EC45-1147-8496-DFA2586CC8C4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3034571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B8DC0-3787-B971-5D00-8727CB18C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A3FB4-AFDF-6CFB-84FB-E0438C517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F51BE-7742-8427-323B-6746C9276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11-03-26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7082A-B0F6-05B3-4148-6F125B3BE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5BB3A-30A8-1717-EEEF-CCDD19DE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01876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E5084-85EB-0ADC-D7F0-0DA592CE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50CEA-EC43-5349-1EBB-8F562F4E7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EC922-A7D2-9731-7041-D7AC6FB83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11-03-26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AEC05-6729-F167-4DA1-FB23E0490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505FA-C70E-C130-A20D-DB301157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8850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4697-BA84-150B-4C2D-F8471379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9B2F4-202A-2BB1-535C-1A428E58F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EE603-A515-38A5-01CB-993F9D3E6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11-03-26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D1643-6231-F3E2-610F-D775A2BB9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7DCF5-082A-FB09-50BE-837F0ACE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26779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C9F8F-3D31-5054-B98B-32951A347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103B9-D8C0-4B32-EE45-9BD12EF747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2F047-75A3-523A-D879-40B2EDA8D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FB8B8-5B4E-1775-617E-5E75D094A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11-03-26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9D2B7-35C0-0726-D40B-546E245F6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10F33-EF19-5FAC-1C0C-CC049E95F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65026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2880C-73E3-54CD-F870-565E8A1B1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5B4E4-4FDE-76FD-67FE-AC9066C11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E05A7-4548-3D67-22C7-AE2D1FA32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3D907-7359-B8EC-9C20-35EBC1A8C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E90DD8-E513-9D1B-B62B-8CD564AF8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7A1F58-D509-1FFB-BFE0-0B0A48435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11-03-26</a:t>
            </a:fld>
            <a:endParaRPr lang="en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A7296-B85D-0D25-EB6E-7FAF5D12D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31504A-0C9E-5FD4-88B8-34EEA6574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40050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B930F-82FE-3339-6D9E-1DCC65EE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1259F5-F978-F338-03E4-3952DD8EF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11-03-26</a:t>
            </a:fld>
            <a:endParaRPr lang="en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FF779-7E7D-359E-E5CD-14EA9066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397C7-7E22-651A-C048-37C544FF4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2750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637C7D-F2B3-C204-E8FB-4C5FB6A76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11-03-26</a:t>
            </a:fld>
            <a:endParaRPr lang="en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EFEE0D-AE5F-8253-4CF5-C157DB29D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87494-01E2-375D-3A6E-278594CEB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1766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2A152-0160-E38E-9640-CE00E472C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EA249-D00C-C8BF-F952-C8F00CAC9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8AD5D-DACB-DF63-8FE5-FD4EB5F13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FD239-CEB5-6239-AE07-3B04DD523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11-03-26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E91D8-CA73-7BEA-3043-ED8929AA7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F3F48-2CE1-5E7C-C6F3-86C5FE51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0426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182A3-0F8B-CC16-20BE-CAA209EB5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53BF4D-06F1-F555-7BCE-8DDE12ECAC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8D79A-13B1-0A13-045B-552423534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F8041-19BA-61C7-2614-452EAEA6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11-03-26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DDC1A-06C5-55BB-AD73-4558907A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A2152-78EF-2AC4-BAFC-1632F3AC7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33367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0AD8-C101-EB20-BB37-5C26D22B6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D8A52-99B4-C6B9-B1AB-C4AEFAF4B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50266-8A1C-5C52-C130-674316BD0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11-03-26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8F916-6B33-A387-4535-E912E9B6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0DE79-9DC5-1075-5BCE-A06034D3D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1173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87A33-D0CF-C093-B49B-3DC54A000A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C567E-C21C-371B-9E0F-758B9066F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ED834-5694-C52C-4AFB-CC7182B18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11-03-26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4DEE-BCC0-3112-ED29-8778C02F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55837-C56A-6554-DF4C-C991A899F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0505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788CC3-6112-0648-6A8C-40A7C6624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AA52D-33E4-8E14-0BD4-6371720A8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AAD87-BD69-6E51-34E6-999EF83278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fld id="{2C457589-72F1-974D-B204-6AE212262628}" type="datetimeFigureOut">
              <a:rPr lang="en-CL" smtClean="0"/>
              <a:pPr/>
              <a:t>11-03-26</a:t>
            </a:fld>
            <a:endParaRPr lang="en-C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F1805-E127-5436-F4BD-B493F4465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709C2-DDB7-3E94-C59E-462FCDB337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fld id="{006AE8E3-C79C-E14F-9140-34B0C7F543F1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4248052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domingomery.ing.uc.cl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2C7284-77CC-FC88-ACE0-20E53773C64D}"/>
              </a:ext>
            </a:extLst>
          </p:cNvPr>
          <p:cNvSpPr/>
          <p:nvPr/>
        </p:nvSpPr>
        <p:spPr>
          <a:xfrm>
            <a:off x="925897" y="683627"/>
            <a:ext cx="10340205" cy="8474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6E2BE-1E76-0F44-8020-A654157CDF76}"/>
              </a:ext>
            </a:extLst>
          </p:cNvPr>
          <p:cNvSpPr txBox="1"/>
          <p:nvPr/>
        </p:nvSpPr>
        <p:spPr>
          <a:xfrm>
            <a:off x="925898" y="3991689"/>
            <a:ext cx="378392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noProof="1">
                <a:solidFill>
                  <a:srgbClr val="0041A1"/>
                </a:solidFill>
                <a:latin typeface="Gill Sans MT" panose="020B0502020104020203" pitchFamily="34" charset="77"/>
              </a:rPr>
              <a:t>Domingo Mery</a:t>
            </a:r>
          </a:p>
          <a:p>
            <a:endParaRPr lang="es-ES_tradnl" sz="2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Ciencia de la Computación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Universidad Católica – Chile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  <a:hlinkClick r:id="rId2"/>
              </a:rPr>
              <a:t>http://domingomery.ing.uc.cl</a:t>
            </a:r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B8274-BF81-6D48-B1EC-87E4CF24BC51}"/>
              </a:ext>
            </a:extLst>
          </p:cNvPr>
          <p:cNvSpPr txBox="1"/>
          <p:nvPr/>
        </p:nvSpPr>
        <p:spPr>
          <a:xfrm>
            <a:off x="925898" y="546159"/>
            <a:ext cx="680385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solidFill>
                  <a:schemeClr val="accent2"/>
                </a:solidFill>
                <a:latin typeface="Gill Sans MT" panose="020B0502020104020203" pitchFamily="34" charset="77"/>
              </a:rPr>
              <a:t>Reconocimiento de Patrones</a:t>
            </a:r>
          </a:p>
          <a:p>
            <a:r>
              <a:rPr lang="es-ES_tradnl" sz="1400" noProof="1">
                <a:solidFill>
                  <a:schemeClr val="accent1">
                    <a:lumMod val="60000"/>
                    <a:lumOff val="40000"/>
                  </a:schemeClr>
                </a:solidFill>
                <a:latin typeface="Gill Sans MT" panose="020B0502020104020203" pitchFamily="34" charset="77"/>
              </a:rPr>
              <a:t>Versión 2026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F84582F-25ED-D64F-A141-4702851F2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889" y="4153426"/>
            <a:ext cx="671000" cy="396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9BC001-F490-B55D-4087-04CD68E211CA}"/>
              </a:ext>
            </a:extLst>
          </p:cNvPr>
          <p:cNvSpPr txBox="1"/>
          <p:nvPr/>
        </p:nvSpPr>
        <p:spPr>
          <a:xfrm>
            <a:off x="925898" y="2363235"/>
            <a:ext cx="9407127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latin typeface="Gill Sans MT" panose="020B0502020104020203" pitchFamily="34" charset="77"/>
              </a:rPr>
              <a:t>Sistema de Reconocimiento de Patrones</a:t>
            </a:r>
            <a:endParaRPr lang="es-ES_tradnl" sz="1400" noProof="1">
              <a:latin typeface="Gill Sans MT" panose="020B0502020104020203" pitchFamily="34" charset="77"/>
            </a:endParaRPr>
          </a:p>
          <a:p>
            <a:r>
              <a:rPr lang="es-ES_tradnl" sz="1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(CAPÍTULO 1)</a:t>
            </a:r>
            <a:endParaRPr lang="es-ES_tradnl" sz="4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  <p:pic>
        <p:nvPicPr>
          <p:cNvPr id="4" name="Picture 3" descr="Screen Shot 2014-07-28 at 3.30.32 PM.png">
            <a:extLst>
              <a:ext uri="{FF2B5EF4-FFF2-40B4-BE49-F238E27FC236}">
                <a16:creationId xmlns:a16="http://schemas.microsoft.com/office/drawing/2014/main" id="{F713277D-8D19-F8E9-D0C7-160CDCD11B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883" y="683626"/>
            <a:ext cx="2688219" cy="8474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7C2C46-FB77-25C3-BA3D-A0231C48A0BC}"/>
              </a:ext>
            </a:extLst>
          </p:cNvPr>
          <p:cNvSpPr/>
          <p:nvPr/>
        </p:nvSpPr>
        <p:spPr>
          <a:xfrm>
            <a:off x="8532327" y="889536"/>
            <a:ext cx="94889" cy="94882"/>
          </a:xfrm>
          <a:prstGeom prst="rect">
            <a:avLst/>
          </a:prstGeom>
          <a:solidFill>
            <a:srgbClr val="FF00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821CF4-4421-1287-4A0F-68915CE9BDF0}"/>
              </a:ext>
            </a:extLst>
          </p:cNvPr>
          <p:cNvSpPr/>
          <p:nvPr/>
        </p:nvSpPr>
        <p:spPr>
          <a:xfrm>
            <a:off x="9457147" y="1041936"/>
            <a:ext cx="94889" cy="94882"/>
          </a:xfrm>
          <a:prstGeom prst="rect">
            <a:avLst/>
          </a:prstGeom>
          <a:solidFill>
            <a:srgbClr val="FFD3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697AF8-DB10-A907-E9A0-11DBFF2F41AD}"/>
              </a:ext>
            </a:extLst>
          </p:cNvPr>
          <p:cNvSpPr/>
          <p:nvPr/>
        </p:nvSpPr>
        <p:spPr>
          <a:xfrm>
            <a:off x="8450280" y="1194336"/>
            <a:ext cx="94889" cy="94882"/>
          </a:xfrm>
          <a:prstGeom prst="rect">
            <a:avLst/>
          </a:prstGeom>
          <a:solidFill>
            <a:srgbClr val="3366FF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33E66E-94EA-0AAE-A7DB-7F462B910E03}"/>
              </a:ext>
            </a:extLst>
          </p:cNvPr>
          <p:cNvSpPr/>
          <p:nvPr/>
        </p:nvSpPr>
        <p:spPr>
          <a:xfrm>
            <a:off x="9200620" y="814788"/>
            <a:ext cx="94889" cy="94882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468F98-E38C-0CEE-B1A7-0C8769B40381}"/>
              </a:ext>
            </a:extLst>
          </p:cNvPr>
          <p:cNvSpPr/>
          <p:nvPr/>
        </p:nvSpPr>
        <p:spPr>
          <a:xfrm>
            <a:off x="9043304" y="1325718"/>
            <a:ext cx="94889" cy="94882"/>
          </a:xfrm>
          <a:prstGeom prst="rect">
            <a:avLst/>
          </a:prstGeom>
          <a:solidFill>
            <a:srgbClr val="00FF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B0EF4F-C258-2C99-FF90-78924AA197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4751" y="3428999"/>
            <a:ext cx="4485032" cy="2686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94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36"/>
          <p:cNvSpPr/>
          <p:nvPr/>
        </p:nvSpPr>
        <p:spPr>
          <a:xfrm>
            <a:off x="2209070" y="367656"/>
            <a:ext cx="2523059" cy="335901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2125524" y="4528834"/>
            <a:ext cx="8020320" cy="0"/>
          </a:xfrm>
          <a:prstGeom prst="line">
            <a:avLst/>
          </a:prstGeom>
          <a:ln w="12700" cmpd="sng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645523" y="14558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97923" y="16082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50323" y="17606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02723" y="19130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363489" y="23101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515889" y="24625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68289" y="26149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820689" y="27673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583246" y="25107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735646" y="26631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888046" y="28155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040446" y="29679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66291" y="518058"/>
            <a:ext cx="19090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Images of different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known classes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1809" y="1790133"/>
            <a:ext cx="917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1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64452" y="3262745"/>
            <a:ext cx="917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2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7500" y="3363014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n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2764" y="2072224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722519" y="2074216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376710" y="2074216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9" name="Straight Arrow Connector 28"/>
          <p:cNvCxnSpPr>
            <a:stCxn id="25" idx="3"/>
            <a:endCxn id="26" idx="1"/>
          </p:cNvCxnSpPr>
          <p:nvPr/>
        </p:nvCxnSpPr>
        <p:spPr>
          <a:xfrm>
            <a:off x="6369610" y="2523435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6" idx="3"/>
            <a:endCxn id="27" idx="1"/>
          </p:cNvCxnSpPr>
          <p:nvPr/>
        </p:nvCxnSpPr>
        <p:spPr>
          <a:xfrm>
            <a:off x="8109365" y="2525427"/>
            <a:ext cx="267344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ight Arrow 32"/>
          <p:cNvSpPr/>
          <p:nvPr/>
        </p:nvSpPr>
        <p:spPr>
          <a:xfrm>
            <a:off x="4464785" y="2389742"/>
            <a:ext cx="517979" cy="30080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126471" y="4115042"/>
            <a:ext cx="2572239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Stage 1:                  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28490" y="4584970"/>
            <a:ext cx="2572239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Stage 2:                   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76137" y="5493428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986802" y="5201352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640993" y="5201352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1" name="Straight Arrow Connector 40"/>
          <p:cNvCxnSpPr>
            <a:endCxn id="39" idx="1"/>
          </p:cNvCxnSpPr>
          <p:nvPr/>
        </p:nvCxnSpPr>
        <p:spPr>
          <a:xfrm>
            <a:off x="4633893" y="5650571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9" idx="3"/>
            <a:endCxn id="40" idx="1"/>
          </p:cNvCxnSpPr>
          <p:nvPr/>
        </p:nvCxnSpPr>
        <p:spPr>
          <a:xfrm>
            <a:off x="6373648" y="5652563"/>
            <a:ext cx="267344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/>
          <p:cNvCxnSpPr>
            <a:stCxn id="27" idx="2"/>
            <a:endCxn id="40" idx="0"/>
          </p:cNvCxnSpPr>
          <p:nvPr/>
        </p:nvCxnSpPr>
        <p:spPr>
          <a:xfrm rot="5400000">
            <a:off x="7089920" y="3221137"/>
            <a:ext cx="2224713" cy="1735717"/>
          </a:xfrm>
          <a:prstGeom prst="bentConnector3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8044548" y="5652563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444492" y="5470673"/>
            <a:ext cx="2035533" cy="37836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Output:             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92107" y="5455957"/>
            <a:ext cx="2491660" cy="46166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Input</a:t>
            </a:r>
            <a:r>
              <a:rPr lang="en-US" sz="2400" dirty="0" err="1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: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625623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36"/>
          <p:cNvSpPr/>
          <p:nvPr/>
        </p:nvSpPr>
        <p:spPr>
          <a:xfrm>
            <a:off x="2209070" y="367656"/>
            <a:ext cx="2523059" cy="335901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2125524" y="4528834"/>
            <a:ext cx="8020320" cy="0"/>
          </a:xfrm>
          <a:prstGeom prst="line">
            <a:avLst/>
          </a:prstGeom>
          <a:ln w="12700" cmpd="sng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645523" y="14558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97923" y="16082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50323" y="17606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02723" y="19130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363489" y="23101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515889" y="24625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68289" y="26149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820689" y="27673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583246" y="25107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735646" y="26631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888046" y="28155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040446" y="29679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66291" y="518058"/>
            <a:ext cx="19090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Images of different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known classes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1809" y="1790133"/>
            <a:ext cx="917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1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64452" y="3262745"/>
            <a:ext cx="917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2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7500" y="3363014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n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2764" y="2072224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722519" y="2074216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376710" y="2074216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9" name="Straight Arrow Connector 28"/>
          <p:cNvCxnSpPr>
            <a:stCxn id="25" idx="3"/>
            <a:endCxn id="26" idx="1"/>
          </p:cNvCxnSpPr>
          <p:nvPr/>
        </p:nvCxnSpPr>
        <p:spPr>
          <a:xfrm>
            <a:off x="6369610" y="2523435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6" idx="3"/>
            <a:endCxn id="27" idx="1"/>
          </p:cNvCxnSpPr>
          <p:nvPr/>
        </p:nvCxnSpPr>
        <p:spPr>
          <a:xfrm>
            <a:off x="8109365" y="2525427"/>
            <a:ext cx="267344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ight Arrow 32"/>
          <p:cNvSpPr/>
          <p:nvPr/>
        </p:nvSpPr>
        <p:spPr>
          <a:xfrm>
            <a:off x="4464785" y="2389742"/>
            <a:ext cx="517979" cy="30080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126471" y="4115042"/>
            <a:ext cx="2572239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Stage 1: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???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    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28490" y="4584970"/>
            <a:ext cx="2572239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Stage 2: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???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     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76137" y="5493428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986802" y="5201352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640993" y="5201352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1" name="Straight Arrow Connector 40"/>
          <p:cNvCxnSpPr>
            <a:endCxn id="39" idx="1"/>
          </p:cNvCxnSpPr>
          <p:nvPr/>
        </p:nvCxnSpPr>
        <p:spPr>
          <a:xfrm>
            <a:off x="4633893" y="5650571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9" idx="3"/>
            <a:endCxn id="40" idx="1"/>
          </p:cNvCxnSpPr>
          <p:nvPr/>
        </p:nvCxnSpPr>
        <p:spPr>
          <a:xfrm>
            <a:off x="6373648" y="5652563"/>
            <a:ext cx="267344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/>
          <p:cNvCxnSpPr>
            <a:stCxn id="27" idx="2"/>
            <a:endCxn id="40" idx="0"/>
          </p:cNvCxnSpPr>
          <p:nvPr/>
        </p:nvCxnSpPr>
        <p:spPr>
          <a:xfrm rot="5400000">
            <a:off x="7089920" y="3221137"/>
            <a:ext cx="2224713" cy="1735717"/>
          </a:xfrm>
          <a:prstGeom prst="bentConnector3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8044548" y="5652563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444492" y="5470673"/>
            <a:ext cx="2035533" cy="37836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Output:             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92107" y="5455957"/>
            <a:ext cx="2491660" cy="46166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Input</a:t>
            </a:r>
            <a:r>
              <a:rPr lang="en-US" sz="2400" dirty="0" err="1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:  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???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50616" y="2339612"/>
            <a:ext cx="3506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???                      ???                   ???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402507" y="5466667"/>
            <a:ext cx="4083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???                    ???                              ???</a:t>
            </a:r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52785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36"/>
          <p:cNvSpPr/>
          <p:nvPr/>
        </p:nvSpPr>
        <p:spPr>
          <a:xfrm>
            <a:off x="2209070" y="367656"/>
            <a:ext cx="2523059" cy="335901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2125524" y="4528834"/>
            <a:ext cx="8020320" cy="0"/>
          </a:xfrm>
          <a:prstGeom prst="line">
            <a:avLst/>
          </a:prstGeom>
          <a:ln w="12700" cmpd="sng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645523" y="14558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97923" y="16082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50323" y="17606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02723" y="19130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363489" y="23101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515889" y="24625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68289" y="26149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820689" y="27673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583246" y="25107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735646" y="26631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888046" y="28155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040446" y="29679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66291" y="518058"/>
            <a:ext cx="19090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Images of different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known classes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1809" y="1790133"/>
            <a:ext cx="917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1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64452" y="3262745"/>
            <a:ext cx="917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2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7500" y="3363014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n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2764" y="2072224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722519" y="2074216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376710" y="2074216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9" name="Straight Arrow Connector 28"/>
          <p:cNvCxnSpPr>
            <a:stCxn id="25" idx="3"/>
            <a:endCxn id="26" idx="1"/>
          </p:cNvCxnSpPr>
          <p:nvPr/>
        </p:nvCxnSpPr>
        <p:spPr>
          <a:xfrm>
            <a:off x="6369610" y="2523435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6" idx="3"/>
            <a:endCxn id="27" idx="1"/>
          </p:cNvCxnSpPr>
          <p:nvPr/>
        </p:nvCxnSpPr>
        <p:spPr>
          <a:xfrm>
            <a:off x="8109365" y="2525427"/>
            <a:ext cx="267344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ight Arrow 32"/>
          <p:cNvSpPr/>
          <p:nvPr/>
        </p:nvSpPr>
        <p:spPr>
          <a:xfrm>
            <a:off x="4464785" y="2389742"/>
            <a:ext cx="517979" cy="30080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126471" y="4115042"/>
            <a:ext cx="2572239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Stage 1: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TRAINING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    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28490" y="4584970"/>
            <a:ext cx="2572239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Stage 2: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TESTING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    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76137" y="5493428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986802" y="5201352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640993" y="5201352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1" name="Straight Arrow Connector 40"/>
          <p:cNvCxnSpPr>
            <a:endCxn id="39" idx="1"/>
          </p:cNvCxnSpPr>
          <p:nvPr/>
        </p:nvCxnSpPr>
        <p:spPr>
          <a:xfrm>
            <a:off x="4633893" y="5650571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9" idx="3"/>
            <a:endCxn id="40" idx="1"/>
          </p:cNvCxnSpPr>
          <p:nvPr/>
        </p:nvCxnSpPr>
        <p:spPr>
          <a:xfrm>
            <a:off x="6373648" y="5652563"/>
            <a:ext cx="267344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/>
          <p:cNvCxnSpPr>
            <a:stCxn id="27" idx="2"/>
            <a:endCxn id="40" idx="0"/>
          </p:cNvCxnSpPr>
          <p:nvPr/>
        </p:nvCxnSpPr>
        <p:spPr>
          <a:xfrm rot="5400000">
            <a:off x="7089920" y="3221137"/>
            <a:ext cx="2224713" cy="1735717"/>
          </a:xfrm>
          <a:prstGeom prst="bentConnector3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8044548" y="5652563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444492" y="5470673"/>
            <a:ext cx="2035533" cy="37836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Output:             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92107" y="5455957"/>
            <a:ext cx="2491660" cy="46166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Input</a:t>
            </a:r>
            <a:r>
              <a:rPr lang="en-US" sz="2400" dirty="0" err="1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:  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???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50616" y="2339612"/>
            <a:ext cx="3506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???                      ???                   ???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402507" y="5466667"/>
            <a:ext cx="4083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???                    ???                              ???</a:t>
            </a:r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04163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36"/>
          <p:cNvSpPr/>
          <p:nvPr/>
        </p:nvSpPr>
        <p:spPr>
          <a:xfrm>
            <a:off x="2209070" y="367656"/>
            <a:ext cx="2523059" cy="335901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2125524" y="4528834"/>
            <a:ext cx="8020320" cy="0"/>
          </a:xfrm>
          <a:prstGeom prst="line">
            <a:avLst/>
          </a:prstGeom>
          <a:ln w="12700" cmpd="sng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645523" y="14558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97923" y="16082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50323" y="17606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02723" y="19130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363489" y="23101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515889" y="24625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68289" y="26149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820689" y="27673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583246" y="25107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735646" y="26631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888046" y="28155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040446" y="29679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66291" y="518058"/>
            <a:ext cx="19090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Images of different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known classes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1809" y="1790133"/>
            <a:ext cx="917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1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64452" y="3262745"/>
            <a:ext cx="917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2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7500" y="3363014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n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2764" y="2072224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722519" y="2074216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376710" y="2074216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9" name="Straight Arrow Connector 28"/>
          <p:cNvCxnSpPr>
            <a:stCxn id="25" idx="3"/>
            <a:endCxn id="26" idx="1"/>
          </p:cNvCxnSpPr>
          <p:nvPr/>
        </p:nvCxnSpPr>
        <p:spPr>
          <a:xfrm>
            <a:off x="6369610" y="2523435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6" idx="3"/>
            <a:endCxn id="27" idx="1"/>
          </p:cNvCxnSpPr>
          <p:nvPr/>
        </p:nvCxnSpPr>
        <p:spPr>
          <a:xfrm>
            <a:off x="8109365" y="2525427"/>
            <a:ext cx="267344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ight Arrow 32"/>
          <p:cNvSpPr/>
          <p:nvPr/>
        </p:nvSpPr>
        <p:spPr>
          <a:xfrm>
            <a:off x="4464785" y="2389742"/>
            <a:ext cx="517979" cy="30080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126471" y="4115042"/>
            <a:ext cx="2572239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Stage 1: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TRAINING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    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28490" y="4584970"/>
            <a:ext cx="2572239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Stage 2: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TESTING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    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76137" y="5493428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986802" y="5201352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640993" y="5201352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1" name="Straight Arrow Connector 40"/>
          <p:cNvCxnSpPr>
            <a:endCxn id="39" idx="1"/>
          </p:cNvCxnSpPr>
          <p:nvPr/>
        </p:nvCxnSpPr>
        <p:spPr>
          <a:xfrm>
            <a:off x="4633893" y="5650571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9" idx="3"/>
            <a:endCxn id="40" idx="1"/>
          </p:cNvCxnSpPr>
          <p:nvPr/>
        </p:nvCxnSpPr>
        <p:spPr>
          <a:xfrm>
            <a:off x="6373648" y="5652563"/>
            <a:ext cx="267344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/>
          <p:cNvCxnSpPr>
            <a:stCxn id="27" idx="2"/>
            <a:endCxn id="40" idx="0"/>
          </p:cNvCxnSpPr>
          <p:nvPr/>
        </p:nvCxnSpPr>
        <p:spPr>
          <a:xfrm rot="5400000">
            <a:off x="7089920" y="3221137"/>
            <a:ext cx="2224713" cy="1735717"/>
          </a:xfrm>
          <a:prstGeom prst="bentConnector3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8044548" y="5652563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444492" y="5470673"/>
            <a:ext cx="2035533" cy="37836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Output:             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92107" y="5455957"/>
            <a:ext cx="2491660" cy="46166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Input</a:t>
            </a:r>
            <a:r>
              <a:rPr lang="en-US" sz="2400" dirty="0" err="1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:  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???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02507" y="5466667"/>
            <a:ext cx="4083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???                    ???                              ???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08E4BB-D335-029F-D964-5E0CEA977663}"/>
              </a:ext>
            </a:extLst>
          </p:cNvPr>
          <p:cNvSpPr txBox="1"/>
          <p:nvPr/>
        </p:nvSpPr>
        <p:spPr>
          <a:xfrm>
            <a:off x="5099726" y="2172493"/>
            <a:ext cx="44645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 Feature                 Feature             Design of</a:t>
            </a:r>
          </a:p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Extraction             Selection            Classifier</a:t>
            </a:r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54769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36"/>
          <p:cNvSpPr/>
          <p:nvPr/>
        </p:nvSpPr>
        <p:spPr>
          <a:xfrm>
            <a:off x="2209070" y="367656"/>
            <a:ext cx="2523059" cy="335901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2125524" y="4528834"/>
            <a:ext cx="8020320" cy="0"/>
          </a:xfrm>
          <a:prstGeom prst="line">
            <a:avLst/>
          </a:prstGeom>
          <a:ln w="12700" cmpd="sng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645523" y="14558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97923" y="16082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50323" y="17606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02723" y="19130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363489" y="23101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515889" y="24625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68289" y="26149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820689" y="27673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583246" y="25107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735646" y="26631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888046" y="28155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040446" y="29679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66291" y="518058"/>
            <a:ext cx="19090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Images of different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known classes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1809" y="1790133"/>
            <a:ext cx="917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1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64452" y="3262745"/>
            <a:ext cx="917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2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7500" y="3363014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n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2764" y="2072224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722519" y="2074216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376710" y="2074216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9" name="Straight Arrow Connector 28"/>
          <p:cNvCxnSpPr>
            <a:stCxn id="25" idx="3"/>
            <a:endCxn id="26" idx="1"/>
          </p:cNvCxnSpPr>
          <p:nvPr/>
        </p:nvCxnSpPr>
        <p:spPr>
          <a:xfrm>
            <a:off x="6369610" y="2523435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6" idx="3"/>
            <a:endCxn id="27" idx="1"/>
          </p:cNvCxnSpPr>
          <p:nvPr/>
        </p:nvCxnSpPr>
        <p:spPr>
          <a:xfrm>
            <a:off x="8109365" y="2525427"/>
            <a:ext cx="267344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ight Arrow 32"/>
          <p:cNvSpPr/>
          <p:nvPr/>
        </p:nvSpPr>
        <p:spPr>
          <a:xfrm>
            <a:off x="4464785" y="2389742"/>
            <a:ext cx="517979" cy="30080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126471" y="4115042"/>
            <a:ext cx="2572239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Stage 1: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TRAINING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    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28490" y="4584970"/>
            <a:ext cx="2572239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Stage 2: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TESTING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    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76137" y="5493428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986802" y="5201352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640993" y="5201352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1" name="Straight Arrow Connector 40"/>
          <p:cNvCxnSpPr>
            <a:endCxn id="39" idx="1"/>
          </p:cNvCxnSpPr>
          <p:nvPr/>
        </p:nvCxnSpPr>
        <p:spPr>
          <a:xfrm>
            <a:off x="4633893" y="5650571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9" idx="3"/>
            <a:endCxn id="40" idx="1"/>
          </p:cNvCxnSpPr>
          <p:nvPr/>
        </p:nvCxnSpPr>
        <p:spPr>
          <a:xfrm>
            <a:off x="6373648" y="5652563"/>
            <a:ext cx="267344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/>
          <p:cNvCxnSpPr>
            <a:stCxn id="27" idx="2"/>
            <a:endCxn id="40" idx="0"/>
          </p:cNvCxnSpPr>
          <p:nvPr/>
        </p:nvCxnSpPr>
        <p:spPr>
          <a:xfrm rot="5400000">
            <a:off x="7089920" y="3221137"/>
            <a:ext cx="2224713" cy="1735717"/>
          </a:xfrm>
          <a:prstGeom prst="bentConnector3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8044548" y="5652563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444492" y="5470673"/>
            <a:ext cx="2035533" cy="37836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Output:             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92107" y="5455957"/>
            <a:ext cx="2491660" cy="46166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Input</a:t>
            </a:r>
            <a:r>
              <a:rPr lang="en-US" sz="2400" dirty="0" err="1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: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Test Image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02507" y="5466667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???                    ???                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362541" y="5466667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Class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EF7B51-3D0B-29C7-7C9A-E83A84608DAA}"/>
              </a:ext>
            </a:extLst>
          </p:cNvPr>
          <p:cNvSpPr txBox="1"/>
          <p:nvPr/>
        </p:nvSpPr>
        <p:spPr>
          <a:xfrm>
            <a:off x="5099726" y="2172493"/>
            <a:ext cx="44645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 Feature                 Feature             Design of</a:t>
            </a:r>
          </a:p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Extraction             Selection            Classifier</a:t>
            </a:r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65353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36"/>
          <p:cNvSpPr/>
          <p:nvPr/>
        </p:nvSpPr>
        <p:spPr>
          <a:xfrm>
            <a:off x="2209070" y="367656"/>
            <a:ext cx="2523059" cy="335901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2125524" y="4528834"/>
            <a:ext cx="8020320" cy="0"/>
          </a:xfrm>
          <a:prstGeom prst="line">
            <a:avLst/>
          </a:prstGeom>
          <a:ln w="12700" cmpd="sng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645523" y="14558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97923" y="16082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50323" y="17606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02723" y="19130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363489" y="23101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515889" y="24625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68289" y="26149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820689" y="27673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583246" y="25107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735646" y="26631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888046" y="28155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040446" y="29679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66291" y="518058"/>
            <a:ext cx="19090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Images of different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known classes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1809" y="1790133"/>
            <a:ext cx="917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1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64452" y="3262745"/>
            <a:ext cx="917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2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7500" y="3363014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n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2764" y="2072224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722519" y="2074216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376710" y="2074216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9" name="Straight Arrow Connector 28"/>
          <p:cNvCxnSpPr>
            <a:stCxn id="25" idx="3"/>
            <a:endCxn id="26" idx="1"/>
          </p:cNvCxnSpPr>
          <p:nvPr/>
        </p:nvCxnSpPr>
        <p:spPr>
          <a:xfrm>
            <a:off x="6369610" y="2523435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6" idx="3"/>
            <a:endCxn id="27" idx="1"/>
          </p:cNvCxnSpPr>
          <p:nvPr/>
        </p:nvCxnSpPr>
        <p:spPr>
          <a:xfrm>
            <a:off x="8109365" y="2525427"/>
            <a:ext cx="267344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ight Arrow 32"/>
          <p:cNvSpPr/>
          <p:nvPr/>
        </p:nvSpPr>
        <p:spPr>
          <a:xfrm>
            <a:off x="4464785" y="2389742"/>
            <a:ext cx="517979" cy="30080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126471" y="4115042"/>
            <a:ext cx="2572239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Stage 1: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TRAINING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    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28490" y="4584970"/>
            <a:ext cx="2572239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Stage 2: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TESTING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    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76137" y="5493428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986802" y="5201352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640993" y="5201352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1" name="Straight Arrow Connector 40"/>
          <p:cNvCxnSpPr>
            <a:endCxn id="39" idx="1"/>
          </p:cNvCxnSpPr>
          <p:nvPr/>
        </p:nvCxnSpPr>
        <p:spPr>
          <a:xfrm>
            <a:off x="4633893" y="5650571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9" idx="3"/>
            <a:endCxn id="40" idx="1"/>
          </p:cNvCxnSpPr>
          <p:nvPr/>
        </p:nvCxnSpPr>
        <p:spPr>
          <a:xfrm>
            <a:off x="6373648" y="5652563"/>
            <a:ext cx="267344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/>
          <p:cNvCxnSpPr>
            <a:stCxn id="27" idx="2"/>
            <a:endCxn id="40" idx="0"/>
          </p:cNvCxnSpPr>
          <p:nvPr/>
        </p:nvCxnSpPr>
        <p:spPr>
          <a:xfrm rot="5400000">
            <a:off x="7089920" y="3221137"/>
            <a:ext cx="2224713" cy="1735717"/>
          </a:xfrm>
          <a:prstGeom prst="bentConnector3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8044548" y="5652563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444492" y="5470673"/>
            <a:ext cx="2035533" cy="37836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Output:             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92107" y="5455957"/>
            <a:ext cx="2491660" cy="46166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Input</a:t>
            </a:r>
            <a:r>
              <a:rPr lang="en-US" sz="2400" dirty="0" err="1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: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Test Image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99726" y="2172493"/>
            <a:ext cx="44645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 Feature                 Feature             Design of</a:t>
            </a:r>
          </a:p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Extraction             Selection            Classifier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362541" y="5466667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Class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066744" y="5299545"/>
            <a:ext cx="123142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 Extraction of 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selected 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features</a:t>
            </a:r>
            <a:endParaRPr lang="en-US" sz="1400" dirty="0">
              <a:latin typeface="Gill Sans MT" panose="020B0502020104020203" pitchFamily="34" charset="7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771044" y="5502087"/>
            <a:ext cx="11352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Classification</a:t>
            </a:r>
            <a:endParaRPr lang="en-US" sz="1400" dirty="0">
              <a:latin typeface="Gill Sans MT" panose="020B0502020104020203" pitchFamily="34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21F91E-34BF-7047-365B-9503BB3D6958}"/>
              </a:ext>
            </a:extLst>
          </p:cNvPr>
          <p:cNvSpPr txBox="1"/>
          <p:nvPr/>
        </p:nvSpPr>
        <p:spPr>
          <a:xfrm>
            <a:off x="7435262" y="3753900"/>
            <a:ext cx="15340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Classifier</a:t>
            </a:r>
          </a:p>
          <a:p>
            <a:pPr algn="ctr"/>
            <a:r>
              <a:rPr lang="en-C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Parameters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35457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982</TotalTime>
  <Words>227</Words>
  <Application>Microsoft Macintosh PowerPoint</Application>
  <PresentationFormat>Widescreen</PresentationFormat>
  <Paragraphs>83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 Display</vt:lpstr>
      <vt:lpstr>Arial</vt:lpstr>
      <vt:lpstr>Gill Sans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Domingo Mery</dc:creator>
  <cp:lastModifiedBy>Domingo Mery</cp:lastModifiedBy>
  <cp:revision>17</cp:revision>
  <dcterms:created xsi:type="dcterms:W3CDTF">2026-03-08T16:41:49Z</dcterms:created>
  <dcterms:modified xsi:type="dcterms:W3CDTF">2026-03-11T23:24:19Z</dcterms:modified>
</cp:coreProperties>
</file>